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Cost</c:v>
                </c:pt>
              </c:strCache>
            </c:strRef>
          </c:tx>
          <c:spPr>
            <a:solidFill>
              <a:srgbClr val="FCA5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Scale Up</c:v>
                  </c:pt>
                  <c:pt idx="1">
                    <c:v>Distillation</c:v>
                  </c:pt>
                  <c:pt idx="2">
                    <c:v>GuidedVote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85</c:v>
                </c:pt>
                <c:pt idx="2">
                  <c:v>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Accuracy Gain</c:v>
                </c:pt>
              </c:strCache>
            </c:strRef>
          </c:tx>
          <c:spPr>
            <a:solidFill>
              <a:srgbClr val="86EFA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Scale Up</c:v>
                  </c:pt>
                  <c:pt idx="1">
                    <c:v>Distillation</c:v>
                  </c:pt>
                  <c:pt idx="2">
                    <c:v>GuidedVote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40</c:v>
                </c:pt>
                <c:pt idx="1">
                  <c:v>55</c:v>
                </c:pt>
                <c:pt idx="2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753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7534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Acceptance Rate (%)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0A5F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0A5F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BBF2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BBF2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Qwen+GSM8K</c:v>
                  </c:pt>
                  <c:pt idx="1">
                    <c:v>Llama+GSM8K</c:v>
                  </c:pt>
                  <c:pt idx="2">
                    <c:v>Qwen+ASDiv</c:v>
                  </c:pt>
                  <c:pt idx="3">
                    <c:v>Llama+ASDiv</c:v>
                  </c:pt>
                  <c:pt idx="4">
                    <c:v>Qwen+SVAMP</c:v>
                  </c:pt>
                  <c:pt idx="5">
                    <c:v>Llama+SVAMP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93.9</c:v>
                </c:pt>
                <c:pt idx="1">
                  <c:v>86.4</c:v>
                </c:pt>
                <c:pt idx="2">
                  <c:v>77</c:v>
                </c:pt>
                <c:pt idx="3">
                  <c:v>91</c:v>
                </c:pt>
                <c:pt idx="4">
                  <c:v>98.3</c:v>
                </c:pt>
                <c:pt idx="5">
                  <c:v>95.9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753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7534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PIQA</c:v>
                  </c:pt>
                  <c:pt idx="1">
                    <c:v>SVAMP</c:v>
                  </c:pt>
                  <c:pt idx="2">
                    <c:v>ASDiv</c:v>
                  </c:pt>
                  <c:pt idx="3">
                    <c:v>ARC-C</c:v>
                  </c:pt>
                  <c:pt idx="4">
                    <c:v>CSQA</c:v>
                  </c:pt>
                  <c:pt idx="5">
                    <c:v>RACE-H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54.2</c:v>
                </c:pt>
                <c:pt idx="1">
                  <c:v>40.3</c:v>
                </c:pt>
                <c:pt idx="2">
                  <c:v>53.7</c:v>
                </c:pt>
                <c:pt idx="3">
                  <c:v>71.7</c:v>
                </c:pt>
                <c:pt idx="4">
                  <c:v>70.7</c:v>
                </c:pt>
                <c:pt idx="5">
                  <c:v>58.6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GuidedVote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PIQA</c:v>
                  </c:pt>
                  <c:pt idx="1">
                    <c:v>SVAMP</c:v>
                  </c:pt>
                  <c:pt idx="2">
                    <c:v>ASDiv</c:v>
                  </c:pt>
                  <c:pt idx="3">
                    <c:v>ARC-C</c:v>
                  </c:pt>
                  <c:pt idx="4">
                    <c:v>CSQA</c:v>
                  </c:pt>
                  <c:pt idx="5">
                    <c:v>RACE-H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78.4</c:v>
                </c:pt>
                <c:pt idx="1">
                  <c:v>61.7</c:v>
                </c:pt>
                <c:pt idx="2">
                  <c:v>64</c:v>
                </c:pt>
                <c:pt idx="3">
                  <c:v>77</c:v>
                </c:pt>
                <c:pt idx="4">
                  <c:v>77</c:v>
                </c:pt>
                <c:pt idx="5">
                  <c:v>58.4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753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3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7534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Gain (pp)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PIQA</c:v>
                  </c:pt>
                  <c:pt idx="1">
                    <c:v>SVAMP</c:v>
                  </c:pt>
                  <c:pt idx="2">
                    <c:v>ASDiv</c:v>
                  </c:pt>
                  <c:pt idx="3">
                    <c:v>ARC-C</c:v>
                  </c:pt>
                  <c:pt idx="4">
                    <c:v>CSQA</c:v>
                  </c:pt>
                  <c:pt idx="5">
                    <c:v>RACE-H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24.2</c:v>
                </c:pt>
                <c:pt idx="1">
                  <c:v>21.4</c:v>
                </c:pt>
                <c:pt idx="2">
                  <c:v>10.3</c:v>
                </c:pt>
                <c:pt idx="3">
                  <c:v>5.3</c:v>
                </c:pt>
                <c:pt idx="4">
                  <c:v>6.3</c:v>
                </c:pt>
                <c:pt idx="5">
                  <c:v>-0.2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753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7534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ECE</c:v>
                </c:pt>
              </c:strCache>
            </c:strRef>
          </c:tx>
          <c:spPr>
            <a:solidFill>
              <a:srgbClr val="FCA5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PIQA</c:v>
                  </c:pt>
                  <c:pt idx="1">
                    <c:v>SVAMP</c:v>
                  </c:pt>
                  <c:pt idx="2">
                    <c:v>ASDiv</c:v>
                  </c:pt>
                  <c:pt idx="3">
                    <c:v>ARC-C</c:v>
                  </c:pt>
                  <c:pt idx="4">
                    <c:v>CSQA</c:v>
                  </c:pt>
                  <c:pt idx="5">
                    <c:v>RACE-H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0.354</c:v>
                </c:pt>
                <c:pt idx="1">
                  <c:v>0.202</c:v>
                </c:pt>
                <c:pt idx="2">
                  <c:v>0.183</c:v>
                </c:pt>
                <c:pt idx="3">
                  <c:v>0.18</c:v>
                </c:pt>
                <c:pt idx="4">
                  <c:v>0.176</c:v>
                </c:pt>
                <c:pt idx="5">
                  <c:v>0.32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Guided ECE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PIQA</c:v>
                  </c:pt>
                  <c:pt idx="1">
                    <c:v>SVAMP</c:v>
                  </c:pt>
                  <c:pt idx="2">
                    <c:v>ASDiv</c:v>
                  </c:pt>
                  <c:pt idx="3">
                    <c:v>ARC-C</c:v>
                  </c:pt>
                  <c:pt idx="4">
                    <c:v>CSQA</c:v>
                  </c:pt>
                  <c:pt idx="5">
                    <c:v>RACE-H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0.11</c:v>
                </c:pt>
                <c:pt idx="1">
                  <c:v>0.128</c:v>
                </c:pt>
                <c:pt idx="2">
                  <c:v>0.1</c:v>
                </c:pt>
                <c:pt idx="3">
                  <c:v>0.099</c:v>
                </c:pt>
                <c:pt idx="4">
                  <c:v>0.141</c:v>
                </c:pt>
                <c:pt idx="5">
                  <c:v>0.246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753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2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7534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Bias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CA5A5"/>
              </a:solidFill>
              <a:effectLst/>
            </c:spPr>
          </c:dPt>
          <c:dPt>
            <c:idx val="1"/>
            <c:bubble3D val="0"/>
            <c:spPr>
              <a:solidFill>
                <a:srgbClr val="93C5FD"/>
              </a:solidFill>
              <a:effectLst/>
            </c:spPr>
          </c:dPt>
          <c:dPt>
            <c:idx val="2"/>
            <c:bubble3D val="0"/>
            <c:spPr>
              <a:solidFill>
                <a:srgbClr val="E5E7E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Option A (baseline)</c:v>
                </c:pt>
                <c:pt idx="1">
                  <c:v>Option B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93.4</c:v>
                </c:pt>
                <c:pt idx="1">
                  <c:v>4</c:v>
                </c:pt>
                <c:pt idx="2">
                  <c:v>2.6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Odds Ratio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PIQA</c:v>
                  </c:pt>
                  <c:pt idx="1">
                    <c:v>SVAMP</c:v>
                  </c:pt>
                  <c:pt idx="2">
                    <c:v>ASDiv</c:v>
                  </c:pt>
                  <c:pt idx="3">
                    <c:v>ARC-C</c:v>
                  </c:pt>
                  <c:pt idx="4">
                    <c:v>CSQA</c:v>
                  </c:pt>
                  <c:pt idx="5">
                    <c:v>RACE-H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2.68</c:v>
                </c:pt>
                <c:pt idx="1">
                  <c:v>3.21</c:v>
                </c:pt>
                <c:pt idx="2">
                  <c:v>1.52</c:v>
                </c:pt>
                <c:pt idx="3">
                  <c:v>2.15</c:v>
                </c:pt>
                <c:pt idx="4">
                  <c:v>1.89</c:v>
                </c:pt>
                <c:pt idx="5">
                  <c:v>0.98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753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7534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Accuracy Gain (pp)</c:v>
                </c:pt>
              </c:strCache>
            </c:strRef>
          </c:tx>
          <c:spPr>
            <a:solidFill>
              <a:srgbClr val="FCA5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CA5A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BBF2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ASDiv FT
(Poorest)</c:v>
                  </c:pt>
                  <c:pt idx="1">
                    <c:v>SVAMP FT
(Intermediate)</c:v>
                  </c:pt>
                  <c:pt idx="2">
                    <c:v>GSM8K FT
(Richest)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7.1</c:v>
                </c:pt>
                <c:pt idx="1">
                  <c:v>12.04</c:v>
                </c:pt>
                <c:pt idx="2">
                  <c:v>13.5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753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7534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SVAMP</c:v>
                  </c:pt>
                  <c:pt idx="1">
                    <c:v>ASDiv</c:v>
                  </c:pt>
                  <c:pt idx="2">
                    <c:v>ARC-C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32.3</c:v>
                </c:pt>
                <c:pt idx="1">
                  <c:v>37.3</c:v>
                </c:pt>
                <c:pt idx="2">
                  <c:v>47.1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GuidedVote 3B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SVAMP</c:v>
                  </c:pt>
                  <c:pt idx="1">
                    <c:v>ASDiv</c:v>
                  </c:pt>
                  <c:pt idx="2">
                    <c:v>ARC-C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49.7</c:v>
                </c:pt>
                <c:pt idx="1">
                  <c:v>50.3</c:v>
                </c:pt>
                <c:pt idx="2">
                  <c:v>58.1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Oracle 70B</c:v>
                </c:pt>
              </c:strCache>
            </c:strRef>
          </c:tx>
          <c:spPr>
            <a:solidFill>
              <a:srgbClr val="FB92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SVAMP</c:v>
                  </c:pt>
                  <c:pt idx="1">
                    <c:v>ASDiv</c:v>
                  </c:pt>
                  <c:pt idx="2">
                    <c:v>ARC-C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56.7</c:v>
                </c:pt>
                <c:pt idx="1">
                  <c:v>58.7</c:v>
                </c:pt>
                <c:pt idx="2">
                  <c:v>75.2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753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  <c:min val="2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7534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chart" Target="/ppt/charts/chart7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6EE7B7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474720"/>
            <a:ext cx="2560320" cy="256032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50292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RESEARCH PRESENTATION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Verbal Reasoning Richness, Not Domain Proximity, Governs SLM-to-SLM Guided Reasoning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Statistically Verified Empirical Study on Small Language Model Inference-Time Guidance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2834640"/>
            <a:ext cx="2423160" cy="658368"/>
          </a:xfrm>
          <a:prstGeom prst="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907792"/>
            <a:ext cx="475488" cy="475488"/>
          </a:xfrm>
          <a:prstGeom prst="ellipse">
            <a:avLst/>
          </a:prstGeom>
          <a:solidFill>
            <a:srgbClr val="6EE7B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9077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17320" y="290779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Adnan Abdullah Sadi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17320" y="3145536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2221345642 · NSU · ECE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310128" y="2834640"/>
            <a:ext cx="2423160" cy="658368"/>
          </a:xfrm>
          <a:prstGeom prst="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01568" y="2907792"/>
            <a:ext cx="475488" cy="475488"/>
          </a:xfrm>
          <a:prstGeom prst="ellipse">
            <a:avLst/>
          </a:prstGeom>
          <a:solidFill>
            <a:srgbClr val="6EE7B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29077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50208" y="290779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Makki Ammer Sakib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50208" y="3145536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2231687642 · NSU · ECE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843016" y="2834640"/>
            <a:ext cx="2423160" cy="658368"/>
          </a:xfrm>
          <a:prstGeom prst="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34456" y="2907792"/>
            <a:ext cx="475488" cy="475488"/>
          </a:xfrm>
          <a:prstGeom prst="ellipse">
            <a:avLst/>
          </a:prstGeom>
          <a:solidFill>
            <a:srgbClr val="6EE7B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34456" y="29077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83096" y="290779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Nahian Syed Ahanaf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83096" y="3145536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2212705642 · NSU · ECE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66928" y="3730752"/>
            <a:ext cx="1097280" cy="25603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7307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Introduction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719072" y="3730752"/>
            <a:ext cx="1097280" cy="25603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19072" y="37307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Problem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871216" y="3730752"/>
            <a:ext cx="1097280" cy="25603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71216" y="37307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Methodology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023360" y="3730752"/>
            <a:ext cx="1097280" cy="25603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0" y="37307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Results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175504" y="3730752"/>
            <a:ext cx="1097280" cy="25603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75504" y="37307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Statistics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327648" y="3730752"/>
            <a:ext cx="1097280" cy="25603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7648" y="37307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Comparison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479792" y="3730752"/>
            <a:ext cx="1097280" cy="25603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79792" y="37307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Conclusion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2286000" cy="2286000"/>
          </a:xfrm>
          <a:prstGeom prst="ellipse">
            <a:avLst/>
          </a:prstGeom>
          <a:solidFill>
            <a:srgbClr val="6EE7B7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" y="4114800"/>
            <a:ext cx="1645920" cy="164592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 ·  INTRODUCTION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38912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Small AIs,
</a:t>
            </a:r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Smarter </a:t>
            </a:r>
            <a:pPr indent="0" marL="0">
              <a:buNone/>
            </a:pPr>
            <a:r>
              <a:rPr lang="en-US" sz="2400" b="1" dirty="0">
                <a:solidFill>
                  <a:srgbClr val="6EE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75564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GuidedVote pairs a fine-tuned 3B Guide model with a frozen 1.5B Solver — like a mentor briefing a student before an exam. No giant, expensive AI required.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2606040"/>
            <a:ext cx="3931920" cy="80467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2706624"/>
            <a:ext cx="45720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E2D9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70662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3063240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932688" y="2807208"/>
            <a:ext cx="310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45000"/>
                  </a:srgbClr>
                </a:solidFill>
              </a:rPr>
              <a:t>-&gt;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243584" y="2706624"/>
            <a:ext cx="457200" cy="347472"/>
          </a:xfrm>
          <a:prstGeom prst="rect">
            <a:avLst/>
          </a:prstGeom>
          <a:solidFill>
            <a:srgbClr val="E6F4EE"/>
          </a:solidFill>
          <a:ln w="12700">
            <a:solidFill>
              <a:srgbClr val="E2D9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3584" y="270662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7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97864" y="3063240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3B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700784" y="2807208"/>
            <a:ext cx="310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45000"/>
                  </a:srgbClr>
                </a:solidFill>
              </a:rPr>
              <a:t>-&gt;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11680" y="2706624"/>
            <a:ext cx="45720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E2D9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0" y="270662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65960" y="3063240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rho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468880" y="2807208"/>
            <a:ext cx="310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45000"/>
                  </a:srgbClr>
                </a:solidFill>
              </a:rPr>
              <a:t>-&gt;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79776" y="2706624"/>
            <a:ext cx="457200" cy="347472"/>
          </a:xfrm>
          <a:prstGeom prst="rect">
            <a:avLst/>
          </a:prstGeom>
          <a:solidFill>
            <a:srgbClr val="E0F2FE"/>
          </a:solidFill>
          <a:ln w="12700">
            <a:solidFill>
              <a:srgbClr val="E2D9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79776" y="270662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34056" y="3063240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x5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236976" y="2807208"/>
            <a:ext cx="310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45000"/>
                  </a:srgbClr>
                </a:solidFill>
              </a:rPr>
              <a:t>-&gt;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547872" y="2706624"/>
            <a:ext cx="457200" cy="347472"/>
          </a:xfrm>
          <a:prstGeom prst="rect">
            <a:avLst/>
          </a:prstGeom>
          <a:solidFill>
            <a:srgbClr val="E6F4EE"/>
          </a:solidFill>
          <a:ln w="12700">
            <a:solidFill>
              <a:srgbClr val="E2D9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47872" y="270662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7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02152" y="3063240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65760" y="3566160"/>
            <a:ext cx="914400" cy="6949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61188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+24.2%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" y="39319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 gain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353312" y="3566160"/>
            <a:ext cx="914400" cy="6949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53312" y="361188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+13.5pp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353312" y="39319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across 5 tasks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340864" y="3566160"/>
            <a:ext cx="914400" cy="6949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40864" y="361188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83.6%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340864" y="39319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70B oracle power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328416" y="3566160"/>
            <a:ext cx="914400" cy="6949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28416" y="361188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328416" y="39319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tested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434840" y="0"/>
            <a:ext cx="4709160" cy="5143500"/>
          </a:xfrm>
          <a:prstGeom prst="rect">
            <a:avLst/>
          </a:prstGeom>
          <a:solidFill>
            <a:srgbClr val="FAF8F4"/>
          </a:solidFill>
          <a:ln w="12700">
            <a:solidFill>
              <a:srgbClr val="FAF8F4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17720" y="18288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617720" y="475488"/>
            <a:ext cx="42519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17720" y="475488"/>
            <a:ext cx="54864" cy="877824"/>
          </a:xfrm>
          <a:prstGeom prst="rect">
            <a:avLst/>
          </a:prstGeom>
          <a:solidFill>
            <a:srgbClr val="127A55"/>
          </a:solidFill>
          <a:ln w="12700">
            <a:solidFill>
              <a:srgbClr val="127A55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18304" y="676656"/>
            <a:ext cx="384048" cy="384048"/>
          </a:xfrm>
          <a:prstGeom prst="ellipse">
            <a:avLst/>
          </a:prstGeom>
          <a:solidFill>
            <a:srgbClr val="127A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18304" y="676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175504" y="566928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Richness Hypothesis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75504" y="841248"/>
            <a:ext cx="3602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reasoning steps in training beats topic match — proven across 2 model architectures.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17720" y="1435608"/>
            <a:ext cx="42519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17720" y="1435608"/>
            <a:ext cx="54864" cy="8778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18304" y="1636776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18304" y="1636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175504" y="1527048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New Failure Modes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175504" y="1801368"/>
            <a:ext cx="3602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Bias-substitution &amp; confident misdirection — first formal description in guided SLM systems.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617720" y="2395728"/>
            <a:ext cx="42519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617720" y="2395728"/>
            <a:ext cx="54864" cy="87782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18304" y="2596896"/>
            <a:ext cx="384048" cy="384048"/>
          </a:xfrm>
          <a:prstGeom prst="ellipse">
            <a:avLst/>
          </a:prstGeom>
          <a:solidFill>
            <a:srgbClr val="0369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18304" y="25968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175504" y="2487168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4-Tier Task Taxonomy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175504" y="2761488"/>
            <a:ext cx="3602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pre-deployment checklist: know if GuidedVote helps before running any real experiments.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617720" y="3401568"/>
            <a:ext cx="4251960" cy="1508760"/>
          </a:xfrm>
          <a:prstGeom prst="rect">
            <a:avLst/>
          </a:prstGeom>
          <a:solidFill>
            <a:srgbClr val="E6F4EE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617720" y="3401568"/>
            <a:ext cx="54864" cy="1508760"/>
          </a:xfrm>
          <a:prstGeom prst="rect">
            <a:avLst/>
          </a:prstGeom>
          <a:solidFill>
            <a:srgbClr val="127A55"/>
          </a:solidFill>
          <a:ln w="12700">
            <a:solidFill>
              <a:srgbClr val="127A55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36592" y="3493008"/>
            <a:ext cx="402336" cy="402336"/>
          </a:xfrm>
          <a:prstGeom prst="ellipse">
            <a:avLst/>
          </a:prstGeom>
          <a:solidFill>
            <a:srgbClr val="127A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36592" y="34930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5212080" y="349300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Domain Proximity Paradox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4736592" y="3877056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 trained on out-of-domain GSM8K math problems (+10.3pp) outperforms one trained directly on the target dataset (+3.6pp) — even on the same test set.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736592" y="4370832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reasoning richness, not topic proximity, drives guided inference quality.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FFFF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737360" y="4572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 &amp; Motivation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164592"/>
            <a:ext cx="1280160" cy="2743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1645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Research?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85039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APPROACHES — THEIR COST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11480" y="1078992"/>
            <a:ext cx="3749040" cy="530352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1556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Up: Making AI models bigger multiplies training cost and deployment hardware needs exponentially.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1664208"/>
            <a:ext cx="374904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700784"/>
            <a:ext cx="3566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Distillation: Requires large annotated datasets AND repeated inference from massive teacher models like GPT-4.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697480"/>
            <a:ext cx="4023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779776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RESEARCH QUESTION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11480" y="2980944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"When a fine-tuned small model replaces the large AI guide, what property of its training data determines how well it generalises?"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26280" y="777240"/>
            <a:ext cx="429768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850392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VISUALISED — CURRENT VS. PROPOSED</a:t>
            </a:r>
            <a:endParaRPr lang="en-US" sz="75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4617720" y="1024128"/>
          <a:ext cx="411480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274320" y="3840480"/>
            <a:ext cx="2834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274320" y="39319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53.7%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384048" y="4306824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Accuracy on ASDiv (no guide)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218688" y="3840480"/>
            <a:ext cx="2834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1C1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3218688" y="39319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57.3%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3328416" y="4306824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In-Domain Guide (trained ON ASDiv) — Only +3.6pp gain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163056" y="3840480"/>
            <a:ext cx="2834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27A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163056" y="39319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7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64.0%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6272784" y="4306824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Out-of-Domain Guide (trained on GSM8K) — +10.3pp BEST gain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FFFF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737360" y="4572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164592"/>
            <a:ext cx="1280160" cy="2743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1645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GuidedVote Works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8595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80467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TWO-STAGE PIPELINE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57200" y="960120"/>
            <a:ext cx="658368" cy="658368"/>
          </a:xfrm>
          <a:prstGeom prst="rect">
            <a:avLst/>
          </a:prstGeom>
          <a:solidFill>
            <a:srgbClr val="EEF2FF"/>
          </a:solidFill>
          <a:ln w="12700">
            <a:solidFill>
              <a:srgbClr val="E2D9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978408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1371600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15568" y="11887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D9CC"/>
                </a:solidFill>
              </a:rPr>
              <a:t>-&gt;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847088" y="960120"/>
            <a:ext cx="658368" cy="658368"/>
          </a:xfrm>
          <a:prstGeom prst="rect">
            <a:avLst/>
          </a:prstGeom>
          <a:solidFill>
            <a:srgbClr val="E6F4EE"/>
          </a:solidFill>
          <a:ln w="12700">
            <a:solidFill>
              <a:srgbClr val="E2D9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47088" y="978408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7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755648" y="1371600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 Guide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505456" y="11887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D9CC"/>
                </a:solidFill>
              </a:rPr>
              <a:t>-&gt;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36976" y="960120"/>
            <a:ext cx="658368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E2D9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36976" y="978408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145536" y="1371600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895344" y="11887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D9CC"/>
                </a:solidFill>
              </a:rPr>
              <a:t>-&gt;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26864" y="960120"/>
            <a:ext cx="658368" cy="658368"/>
          </a:xfrm>
          <a:prstGeom prst="rect">
            <a:avLst/>
          </a:prstGeom>
          <a:solidFill>
            <a:srgbClr val="E0F2FE"/>
          </a:solidFill>
          <a:ln w="12700">
            <a:solidFill>
              <a:srgbClr val="E2D9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978408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369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35424" y="1371600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1.5B Solver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x5 votes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285232" y="11887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D9CC"/>
                </a:solidFill>
              </a:rPr>
              <a:t>-&gt;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016752" y="960120"/>
            <a:ext cx="658368" cy="658368"/>
          </a:xfrm>
          <a:prstGeom prst="rect">
            <a:avLst/>
          </a:prstGeom>
          <a:solidFill>
            <a:srgbClr val="FCE7F3"/>
          </a:solidFill>
          <a:ln w="12700">
            <a:solidFill>
              <a:srgbClr val="E2D9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16752" y="978408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D17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925312" y="1371600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675120" y="11887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D9CC"/>
                </a:solidFill>
              </a:rPr>
              <a:t>-&gt;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406640" y="960120"/>
            <a:ext cx="658368" cy="658368"/>
          </a:xfrm>
          <a:prstGeom prst="rect">
            <a:avLst/>
          </a:prstGeom>
          <a:solidFill>
            <a:srgbClr val="E6F4EE"/>
          </a:solidFill>
          <a:ln w="12700">
            <a:solidFill>
              <a:srgbClr val="E2D9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0" y="978408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7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315200" y="1371600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1874520"/>
            <a:ext cx="4297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11480" y="193852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SPGFT — HOW WE TRAIN THE GUIDE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11480" y="2176272"/>
            <a:ext cx="256032" cy="256032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21762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49808" y="217627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model writes its own step-by-step decomposition plans for 3,000 math problems at very low temperature (near-deterministic).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480" y="2706624"/>
            <a:ext cx="256032" cy="256032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27066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49808" y="270662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5-rule quality filter keeps only good plans: correct step count, no math calculations, concise wording, proper verbs.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1480" y="3236976"/>
            <a:ext cx="256032" cy="256032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32369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49808" y="323697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fine-tunes on its own filtered plans using LoRA adapters — only ~1.2% of parameters are updated.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1874520"/>
            <a:ext cx="4114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892040" y="1938528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ACCEPTANCE RATES BY DATASET</a:t>
            </a:r>
            <a:endParaRPr lang="en-US" sz="750" dirty="0"/>
          </a:p>
        </p:txBody>
      </p:sp>
      <p:graphicFrame>
        <p:nvGraphicFramePr>
          <p:cNvPr id="45" name="Chart 0" descr=""/>
          <p:cNvGraphicFramePr/>
          <p:nvPr/>
        </p:nvGraphicFramePr>
        <p:xfrm>
          <a:off x="4846320" y="2103120"/>
          <a:ext cx="384048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6" name="Shape 43"/>
          <p:cNvSpPr/>
          <p:nvPr/>
        </p:nvSpPr>
        <p:spPr>
          <a:xfrm>
            <a:off x="274320" y="3950208"/>
            <a:ext cx="285292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274320" y="3995928"/>
            <a:ext cx="2852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36M</a:t>
            </a:r>
            <a:endParaRPr lang="en-US" sz="2200" dirty="0"/>
          </a:p>
        </p:txBody>
      </p:sp>
      <p:sp>
        <p:nvSpPr>
          <p:cNvPr id="48" name="Text 45"/>
          <p:cNvSpPr/>
          <p:nvPr/>
        </p:nvSpPr>
        <p:spPr>
          <a:xfrm>
            <a:off x="365760" y="4370832"/>
            <a:ext cx="2670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Parameters (out of 3B)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3218688" y="3950208"/>
            <a:ext cx="285292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0" name="Text 47"/>
          <p:cNvSpPr/>
          <p:nvPr/>
        </p:nvSpPr>
        <p:spPr>
          <a:xfrm>
            <a:off x="3218688" y="3995928"/>
            <a:ext cx="2852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7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93.9%</a:t>
            </a:r>
            <a:endParaRPr lang="en-US" sz="2200" dirty="0"/>
          </a:p>
        </p:txBody>
      </p:sp>
      <p:sp>
        <p:nvSpPr>
          <p:cNvPr id="51" name="Text 48"/>
          <p:cNvSpPr/>
          <p:nvPr/>
        </p:nvSpPr>
        <p:spPr>
          <a:xfrm>
            <a:off x="3310128" y="4370832"/>
            <a:ext cx="2670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accepted for GSM8K training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6163056" y="3950208"/>
            <a:ext cx="285292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3" name="Text 50"/>
          <p:cNvSpPr/>
          <p:nvPr/>
        </p:nvSpPr>
        <p:spPr>
          <a:xfrm>
            <a:off x="6163056" y="3995928"/>
            <a:ext cx="2852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369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K=5</a:t>
            </a:r>
            <a:endParaRPr lang="en-US" sz="2200" dirty="0"/>
          </a:p>
        </p:txBody>
      </p:sp>
      <p:sp>
        <p:nvSpPr>
          <p:cNvPr id="54" name="Text 51"/>
          <p:cNvSpPr/>
          <p:nvPr/>
        </p:nvSpPr>
        <p:spPr>
          <a:xfrm>
            <a:off x="6254496" y="4370832"/>
            <a:ext cx="2670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votes per question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FFFF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737360" y="4572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164592"/>
            <a:ext cx="1280160" cy="2743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1645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Accuracy Gains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4297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822960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COMPARISON ACROSS 6 BENCHMARKS</a:t>
            </a:r>
            <a:endParaRPr lang="en-US" sz="7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20040" y="987552"/>
          <a:ext cx="4187952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4754880" y="749808"/>
            <a:ext cx="41148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92040" y="82296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GAINS (Δ pp) — AT A GLANCE</a:t>
            </a:r>
            <a:endParaRPr lang="en-US" sz="75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4800600" y="987552"/>
          <a:ext cx="39776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Shape 9"/>
          <p:cNvSpPr/>
          <p:nvPr/>
        </p:nvSpPr>
        <p:spPr>
          <a:xfrm>
            <a:off x="274320" y="3200400"/>
            <a:ext cx="8595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246120"/>
          <a:ext cx="8503920" cy="1554480"/>
        </p:xfrm>
        <a:graphic>
          <a:graphicData uri="http://schemas.openxmlformats.org/drawingml/2006/table">
            <a:tbl>
              <a:tblPr/>
              <a:tblGrid>
                <a:gridCol w="1371600"/>
                <a:gridCol w="1234440"/>
                <a:gridCol w="1005840"/>
                <a:gridCol w="1097280"/>
                <a:gridCol w="914400"/>
                <a:gridCol w="2880360"/>
              </a:tblGrid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GuidedVote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 (Δ)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PIQA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7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+24.2pp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Confirmed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SVAMP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Arithmetic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7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+21.4pp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Confirmed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ASDiv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Arithmetic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7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+10.3pp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Confirmed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ARC-Challenge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7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+5.3pp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Confirmed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CommonsenseQA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Commonsense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7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+6.3pp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Confirmed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RACE-High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-0.2pp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Result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FFFF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737360" y="4572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 Analysis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086600" y="164592"/>
            <a:ext cx="1737360" cy="2743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86600" y="1645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Real? Proving It With Numbers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4297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822960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ERROR (ECE) — LOWER IS BETTER</a:t>
            </a:r>
            <a:endParaRPr lang="en-US" sz="7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20040" y="987552"/>
          <a:ext cx="4187952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411480" y="2788920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measures how well confidence matches accuracy. Guided model is better calibrated on ALL 6 datasets.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754880" y="749808"/>
            <a:ext cx="4114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892040" y="82296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PIQA POSITION BIAS — BEFORE &amp; AFTER GUIDANCE</a:t>
            </a:r>
            <a:endParaRPr lang="en-US" sz="750" dirty="0"/>
          </a:p>
        </p:txBody>
      </p:sp>
      <p:graphicFrame>
        <p:nvGraphicFramePr>
          <p:cNvPr id="13" name="Chart 1" descr=""/>
          <p:cNvGraphicFramePr/>
          <p:nvPr/>
        </p:nvGraphicFramePr>
        <p:xfrm>
          <a:off x="4800600" y="969264"/>
          <a:ext cx="228600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Shape 10"/>
          <p:cNvSpPr/>
          <p:nvPr/>
        </p:nvSpPr>
        <p:spPr>
          <a:xfrm>
            <a:off x="7132320" y="987552"/>
            <a:ext cx="1645920" cy="150876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205472" y="1042416"/>
            <a:ext cx="150876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93.4% of answers chose option A in baseline — not because it was correct, but due to positional bias. Guidance fixed this.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274320" y="2971800"/>
            <a:ext cx="4297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411480" y="3044952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RATIOS (McNemar Test — HIGHER = STRONGER EFFECT)</a:t>
            </a:r>
            <a:endParaRPr lang="en-US" sz="750" dirty="0"/>
          </a:p>
        </p:txBody>
      </p:sp>
      <p:graphicFrame>
        <p:nvGraphicFramePr>
          <p:cNvPr id="18" name="Chart 2" descr=""/>
          <p:cNvGraphicFramePr/>
          <p:nvPr/>
        </p:nvGraphicFramePr>
        <p:xfrm>
          <a:off x="320040" y="3218688"/>
          <a:ext cx="4187952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Shape 14"/>
          <p:cNvSpPr/>
          <p:nvPr/>
        </p:nvSpPr>
        <p:spPr>
          <a:xfrm>
            <a:off x="4754880" y="2971800"/>
            <a:ext cx="4114800" cy="594360"/>
          </a:xfrm>
          <a:prstGeom prst="rect">
            <a:avLst/>
          </a:prstGeom>
          <a:solidFill>
            <a:srgbClr val="E6F4EE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892040" y="30175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McNemar's Test? It compares paired before/after results question-by-question to prove improvements are real, not random.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4754880" y="3657600"/>
            <a:ext cx="1920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4754880" y="371246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7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3.21×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4754880" y="405993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SVAMP Odds Ratio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6839712" y="3657600"/>
            <a:ext cx="1920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6839712" y="371246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69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2.68×</a:t>
            </a:r>
            <a:endParaRPr lang="en-US" sz="2000" dirty="0"/>
          </a:p>
        </p:txBody>
      </p:sp>
      <p:sp>
        <p:nvSpPr>
          <p:cNvPr id="26" name="Text 21"/>
          <p:cNvSpPr/>
          <p:nvPr/>
        </p:nvSpPr>
        <p:spPr>
          <a:xfrm>
            <a:off x="6839712" y="405993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PIQA Odds Ratio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754880" y="4407408"/>
            <a:ext cx="4114800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864608" y="4453128"/>
            <a:ext cx="3895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confirmed improvements pass the statistical test at p &lt; 0.01. RACE-High null is confirmed at p = 1.000 (99%+ power).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FFFF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737360" y="4572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Comparison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0" y="164592"/>
            <a:ext cx="1554480" cy="2743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164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GuidedVote vs Everything Else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42976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822960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RICHNESS ORDERING — AVG ACCURACY GAIN</a:t>
            </a:r>
            <a:endParaRPr lang="en-US" sz="7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20040" y="987552"/>
          <a:ext cx="4187952" cy="14813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411480" y="2514600"/>
            <a:ext cx="4023360" cy="310896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25420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Richness Gradient: ASDiv FT (+7.1pp) &lt; SVAMP FT (+12.0pp) &lt; GSM8K FT (+13.5pp)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754880" y="749808"/>
            <a:ext cx="41148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892040" y="82296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GUIDEDVOTE vs LLM ORACLE (70B MODEL)</a:t>
            </a:r>
            <a:endParaRPr lang="en-US" sz="750" dirty="0"/>
          </a:p>
        </p:txBody>
      </p:sp>
      <p:graphicFrame>
        <p:nvGraphicFramePr>
          <p:cNvPr id="14" name="Chart 1" descr=""/>
          <p:cNvGraphicFramePr/>
          <p:nvPr/>
        </p:nvGraphicFramePr>
        <p:xfrm>
          <a:off x="4800600" y="987552"/>
          <a:ext cx="3977640" cy="14813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Shape 11"/>
          <p:cNvSpPr/>
          <p:nvPr/>
        </p:nvSpPr>
        <p:spPr>
          <a:xfrm>
            <a:off x="4892040" y="2514600"/>
            <a:ext cx="3840480" cy="310896"/>
          </a:xfrm>
          <a:prstGeom prst="rect">
            <a:avLst/>
          </a:prstGeom>
          <a:solidFill>
            <a:srgbClr val="E6F4EE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983480" y="2542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83.6% capture rate — a 3B fine-tuned model captures 83.6% of what a 70B giant achieves, at zero cloud cost!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411480" y="294436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FOUR-TIER TASK TAXONOMY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274320" y="3154680"/>
            <a:ext cx="2084832" cy="1600200"/>
          </a:xfrm>
          <a:prstGeom prst="rect">
            <a:avLst/>
          </a:prstGeom>
          <a:solidFill>
            <a:srgbClr val="E6F4EE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84048" y="3255264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84048" y="32552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859536" y="329184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Architecture-Robust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384048" y="37124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Deploy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384048" y="3986784"/>
            <a:ext cx="1828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SVAMP, ASDiv — +21pp replicated across BOTH model families. Pure arithmetic wins consistently.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2468880" y="3154680"/>
            <a:ext cx="2084832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2578608" y="3255264"/>
            <a:ext cx="411480" cy="41148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578608" y="32552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3054096" y="329184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Domain-Accessible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2578608" y="37124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with CoT Check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2578608" y="3986784"/>
            <a:ext cx="1828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ARC-Challenge, CommonsenseQA — Consistent gains, but Chain-of-Thought is enough for science.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4663440" y="3154680"/>
            <a:ext cx="2084832" cy="1600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4773168" y="3255264"/>
            <a:ext cx="411480" cy="4114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773168" y="32552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5248656" y="329184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Solver-Bias-Dependent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773168" y="37124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First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4773168" y="3986784"/>
            <a:ext cx="1828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PIQA — Results depend on whether the solver has positional bias. Check before deploying.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6858000" y="3154680"/>
            <a:ext cx="2084832" cy="160020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6967728" y="3255264"/>
            <a:ext cx="411480" cy="4114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967728" y="32552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400" dirty="0"/>
          </a:p>
        </p:txBody>
      </p:sp>
      <p:sp>
        <p:nvSpPr>
          <p:cNvPr id="39" name="Text 35"/>
          <p:cNvSpPr/>
          <p:nvPr/>
        </p:nvSpPr>
        <p:spPr>
          <a:xfrm>
            <a:off x="7443216" y="329184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Retrieval-Conditional</a:t>
            </a:r>
            <a:endParaRPr lang="en-US" sz="750" dirty="0"/>
          </a:p>
        </p:txBody>
      </p:sp>
      <p:sp>
        <p:nvSpPr>
          <p:cNvPr id="40" name="Text 36"/>
          <p:cNvSpPr/>
          <p:nvPr/>
        </p:nvSpPr>
        <p:spPr>
          <a:xfrm>
            <a:off x="6967728" y="37124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Baseline</a:t>
            </a:r>
            <a:endParaRPr lang="en-US" sz="1050" dirty="0"/>
          </a:p>
        </p:txBody>
      </p:sp>
      <p:sp>
        <p:nvSpPr>
          <p:cNvPr id="41" name="Text 37"/>
          <p:cNvSpPr/>
          <p:nvPr/>
        </p:nvSpPr>
        <p:spPr>
          <a:xfrm>
            <a:off x="6967728" y="3986784"/>
            <a:ext cx="1828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RACE-High — Reading comprehension. Guidance can't help extract answers from passages.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548640"/>
            <a:ext cx="2011680" cy="201168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FFFF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· FINAL CONCLUSION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Proved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GuidedVote — A complete, statistically verified study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0" y="1371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E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+24.2pp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0" y="54864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accuracy gain (PIQA)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687568" y="1371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E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+13.5pp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687568" y="54864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across 5 benchmarks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803136" y="1371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E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83.6%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03136" y="54864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rate vs 70B oracle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918704" y="1371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E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2,300+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918704" y="54864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statistical evaluations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74320" y="1389888"/>
            <a:ext cx="420624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1499616"/>
            <a:ext cx="347472" cy="347472"/>
          </a:xfrm>
          <a:prstGeom prst="ellipse">
            <a:avLst/>
          </a:prstGeom>
          <a:solidFill>
            <a:srgbClr val="127A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14996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1536192"/>
            <a:ext cx="1280160" cy="228600"/>
          </a:xfrm>
          <a:prstGeom prst="rect">
            <a:avLst/>
          </a:prstGeom>
          <a:solidFill>
            <a:srgbClr val="E6F4EE"/>
          </a:solidFill>
          <a:ln w="12700">
            <a:solidFill>
              <a:srgbClr val="E6F4E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15361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12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01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84048" y="1828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Richness Hypothesis — Confirmed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4048" y="210312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Rich, multi-step training data transfers better than matching the task topic. GSM8K-trained guides beat in-domain guides everywhere — even on the same test set they were supposed to be weaker on.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703320" y="1938528"/>
            <a:ext cx="6583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1A2744">
                    <a:alpha val="6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800" dirty="0"/>
          </a:p>
        </p:txBody>
      </p:sp>
      <p:sp>
        <p:nvSpPr>
          <p:cNvPr id="23" name="Shape 21"/>
          <p:cNvSpPr/>
          <p:nvPr/>
        </p:nvSpPr>
        <p:spPr>
          <a:xfrm>
            <a:off x="4709160" y="1389888"/>
            <a:ext cx="420624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18888" y="1499616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14996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257800" y="1536192"/>
            <a:ext cx="1280160" cy="22860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15361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02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818888" y="1828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New Failure Modes Discovered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18888" y="210312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Bias-Substitution: A weak guide flips one wrong bias into another. Confident Misdirection: Right operation, wrong numbers, unanimous wrong votes — the #1 error type at 37% of failures.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138160" y="1938528"/>
            <a:ext cx="6583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1A2744">
                    <a:alpha val="6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800" dirty="0"/>
          </a:p>
        </p:txBody>
      </p:sp>
      <p:sp>
        <p:nvSpPr>
          <p:cNvPr id="31" name="Shape 29"/>
          <p:cNvSpPr/>
          <p:nvPr/>
        </p:nvSpPr>
        <p:spPr>
          <a:xfrm>
            <a:off x="274320" y="2834640"/>
            <a:ext cx="420624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84048" y="2944368"/>
            <a:ext cx="347472" cy="347472"/>
          </a:xfrm>
          <a:prstGeom prst="ellipse">
            <a:avLst/>
          </a:prstGeom>
          <a:solidFill>
            <a:srgbClr val="0369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29443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22960" y="2980944"/>
            <a:ext cx="1280160" cy="22860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2980944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03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84048" y="32735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4-Tier Deployment Taxonomy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84048" y="3547872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in advance — with just 150 test questions — whether GuidedVote will help your task. Tier A (Arithmetic): Always deploy. Tier D (Reading): Skip it. No guesswork needed.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703320" y="3383280"/>
            <a:ext cx="6583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1A2744">
                    <a:alpha val="6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800" dirty="0"/>
          </a:p>
        </p:txBody>
      </p:sp>
      <p:sp>
        <p:nvSpPr>
          <p:cNvPr id="39" name="Shape 37"/>
          <p:cNvSpPr/>
          <p:nvPr/>
        </p:nvSpPr>
        <p:spPr>
          <a:xfrm>
            <a:off x="4709160" y="2834640"/>
            <a:ext cx="4206240" cy="1353312"/>
          </a:xfrm>
          <a:prstGeom prst="rect">
            <a:avLst/>
          </a:prstGeom>
          <a:solidFill>
            <a:srgbClr val="FFFFFF"/>
          </a:solidFill>
          <a:ln w="254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18888" y="2944368"/>
            <a:ext cx="347472" cy="347472"/>
          </a:xfrm>
          <a:prstGeom prst="ellipse">
            <a:avLst/>
          </a:prstGeom>
          <a:solidFill>
            <a:srgbClr val="127A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18888" y="29443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257800" y="2980944"/>
            <a:ext cx="1280160" cy="228600"/>
          </a:xfrm>
          <a:prstGeom prst="rect">
            <a:avLst/>
          </a:prstGeom>
          <a:solidFill>
            <a:srgbClr val="E6F4EE"/>
          </a:solidFill>
          <a:ln w="12700">
            <a:solidFill>
              <a:srgbClr val="E6F4EE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57800" y="2980944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12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04  HEADLINE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818888" y="32735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83.6% of a Giant's Power — From a Tiny Model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818888" y="3547872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fine-tuned 3B model captures 83.6% of what a 70B oracle achieves — on a single consumer GPU, at zero cloud cost, 30-47% more efficient than the brute-force ceiling.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138160" y="3383280"/>
            <a:ext cx="6583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1A2744">
                    <a:alpha val="6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800" dirty="0"/>
          </a:p>
        </p:txBody>
      </p:sp>
      <p:sp>
        <p:nvSpPr>
          <p:cNvPr id="47" name="Shape 45"/>
          <p:cNvSpPr/>
          <p:nvPr/>
        </p:nvSpPr>
        <p:spPr>
          <a:xfrm>
            <a:off x="274320" y="4315968"/>
            <a:ext cx="5943600" cy="530352"/>
          </a:xfrm>
          <a:prstGeom prst="rect">
            <a:avLst/>
          </a:prstGeom>
          <a:solidFill>
            <a:srgbClr val="EEF2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47472" y="4407408"/>
            <a:ext cx="292608" cy="292608"/>
          </a:xfrm>
          <a:prstGeom prst="ellipse">
            <a:avLst/>
          </a:prstGeom>
          <a:solidFill>
            <a:srgbClr val="1A27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" y="44074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13232" y="4352544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Directions: Multi-domain guide fine-tuning  ·  RL-based guide refinement  ·  Scaling to 7B guide models  ·  Extending taxonomy to instruction-tuned variants  ·  FLOP-level deployment benchmarking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355080" y="4315968"/>
            <a:ext cx="2514600" cy="53035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46520" y="43525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for Listening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446520" y="462686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Sadi  ·  Sakib  ·  Nahian  ·  NSU ECE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GuidedVote Research Presentation</dc:title>
  <dc:subject>PptxGenJS Presentation</dc:subject>
  <dc:creator>Sadi, Sakib, Nahian</dc:creator>
  <cp:lastModifiedBy>Sadi, Sakib, Nahian</cp:lastModifiedBy>
  <cp:revision>1</cp:revision>
  <dcterms:created xsi:type="dcterms:W3CDTF">2026-05-03T12:36:36Z</dcterms:created>
  <dcterms:modified xsi:type="dcterms:W3CDTF">2026-05-03T12:36:36Z</dcterms:modified>
</cp:coreProperties>
</file>