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27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868680"/>
            <a:ext cx="81381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Language Models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Research Overview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81381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231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CSE445 — Machine Learning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South University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90672"/>
            <a:ext cx="2487168" cy="96012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090672"/>
            <a:ext cx="2487168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6382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Adnan Abdullah Sadi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54787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2221345642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South University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3090672"/>
            <a:ext cx="2487168" cy="96012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3090672"/>
            <a:ext cx="2487168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316382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Nahian Syed Ahanaf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83280" y="354787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2212705042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79476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South University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3090672"/>
            <a:ext cx="2487168" cy="96012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3090672"/>
            <a:ext cx="2487168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16382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Makki Ammer Sakib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26480" y="354787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2231687642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379476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South University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42245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Mohammad Shifat-E-Rabbi  [MSRb]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ReflectEvo — Self-Reflection for Small Models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126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BIGAI &amp; Peking University · arXiv May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86968"/>
            <a:ext cx="8503920" cy="6217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86968"/>
            <a:ext cx="64008" cy="6217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886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8B model can outperform a 70B model simply by learning to review its own mistakes — across 10 subjects, using only public datasets.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Reflection Loop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19385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2494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gives best answer to the question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615184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6334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9443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did I go wrong? Why?"  (32 varied prompt instructions)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310128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3284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6393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answer using the reflection insight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005072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0233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3342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reflections saved for self-training via DPO; trained across 460k examples from 17 public datasets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1920240"/>
            <a:ext cx="1965960" cy="117043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0" y="1920240"/>
            <a:ext cx="196596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19933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5120640" y="26334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used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32320" y="1920240"/>
            <a:ext cx="1965960" cy="117043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32320" y="1920240"/>
            <a:ext cx="1965960" cy="54864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19933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7223760" y="26334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after reflect (vs 64% for 70B)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0" y="3200400"/>
            <a:ext cx="1965960" cy="117043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0" y="320040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327355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+33pts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5120640" y="39136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from training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32320" y="3200400"/>
            <a:ext cx="1965960" cy="117043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32320" y="3200400"/>
            <a:ext cx="196596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0" y="327355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turns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7223760" y="39136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keeps climbing each round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 — Small Language Model Can Self-Correct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126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China Normal University &amp; Fudan University · AAAI 2024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86968"/>
            <a:ext cx="8503920" cy="6217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86968"/>
            <a:ext cx="64008" cy="6217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886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6B-parameter model can be trained to notice when it is wrong and fix itself in a single seamless step — no human help, no separate checker AI needed.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Technique: Partial Answer Masking (PAM)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4160520" cy="98755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01952"/>
            <a:ext cx="416052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93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2860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wrong answers too — model gets confused &amp; memorises errors first, then corrections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901952"/>
            <a:ext cx="4160520" cy="98755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901952"/>
            <a:ext cx="4160520" cy="54864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993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portion masked during training — model only learns the correction &amp; healthy self-doubt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2999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% Correct Answers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73552"/>
          <a:ext cx="8503920" cy="193852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SC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ChatGLM-6B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4CC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CuteGPT-13B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4CC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CuteGPT-7B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4CC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Vicuna-13B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Llama2-7B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— Strong Verifiers to Self-Correct Reasoning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126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Michigan &amp; LG AI Research · ACL Findings 2024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86968"/>
            <a:ext cx="8503920" cy="6217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86968"/>
            <a:ext cx="64008" cy="621792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886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AI can fix its own mistakes brilliantly — but only if something reliable first tells it when it is wrong. The fixer is capable; the judge is the bottleneck.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Separation: Judge vs. Fixer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4160520" cy="141732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20240"/>
            <a:ext cx="416052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0116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 (Verifier)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340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AI know it got it wrong?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3225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61518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 are overconfident. Weak self-judge barely helps (+0.4%). Strong external judge (GPT-4) unlocks big gains.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920240"/>
            <a:ext cx="4160520" cy="141732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920240"/>
            <a:ext cx="4160520" cy="54864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0116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Fixer  (Refiner)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340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AI correct a wrong answer?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63840" y="23225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61518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fixer works very well. Generates critiques with correct answer as hint, filters bad ones, transfers to new topics.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34564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Quality Drives Everything (Gemma-7B, Maths)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30752"/>
          <a:ext cx="8503920" cy="12573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5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self-correction (baseline)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Self-correction — AI judges itself (weak)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+0.4%  (barely anything)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Self-correction — GPT-4 judge (strong)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4CC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Theoretical perfect judge (ceiling)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+11.1%  (fixer capacity)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SGFT — Solution Guidance Fine-Tuning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126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Jiaotong University · arXiv December 2024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86968"/>
            <a:ext cx="8503920" cy="6217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86968"/>
            <a:ext cx="64008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886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a small AI to write a step-by-step plan first — then let any other AI follow that plan to calculate the answer. Uses only 3% of the training data standard Chain-of-Thought requires — yet achieves better results.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Two-Model Architecture: Plan → Solve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3703320" cy="123444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01952"/>
            <a:ext cx="3703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93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#1 — The Planner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3134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with SGFT on ~3,000 examples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calculate — outputs logical plan: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"Step 1: Find total. Step 2: Divide by Y."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plan 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33088" y="2615184"/>
            <a:ext cx="87782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1901952"/>
            <a:ext cx="3703320" cy="123444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1901952"/>
            <a:ext cx="370332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993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#2 — The Solver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0" y="23134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training needed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question + plan from AI #1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plan to produce the final answer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2461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 Ablation: Trained Solver Hurts Performance!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520440"/>
          <a:ext cx="8503920" cy="1481328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GSM8K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Untrained Planner + Untrained Solver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Untrained Planner + CoT-trained Solver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 — over-trained is too rigid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SG-trained Planner + Untrained Solver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4CC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result!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SG-trained Planner + CoT-trained Solver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but not best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 Fine-tuning (30k examples)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baseline — 10x more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Instruction-Tuned Models Always Perform Better?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126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M42, Abu Dhabi · arXiv January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86968"/>
            <a:ext cx="8503920" cy="6217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86968"/>
            <a:ext cx="64008" cy="6217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886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Instruction-tuned models are NOT always smarter than their base counterparts. On zero-shot tasks and new domains, raw base models can outperform by 30+ percentage points.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Results: Base Wins by a Huge Margin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01952"/>
          <a:ext cx="8503920" cy="15087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Instruction-Tuned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Advantage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Llama3-70B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4CC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Kimi-K2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4CC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DeepSeek-V3.1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4CC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Qwen3-14B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4CC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35478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Findings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" y="3822192"/>
            <a:ext cx="2743200" cy="1115568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3822192"/>
            <a:ext cx="27432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39044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Memorisation Exposed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419709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Math-Perturb test (disguised problems): scores drop 38% — high benchmark scores may reflect pattern memorisation, not real understanding.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46120" y="3822192"/>
            <a:ext cx="2743200" cy="1115568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46120" y="3822192"/>
            <a:ext cx="27432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6"/>
          <p:cNvSpPr/>
          <p:nvPr/>
        </p:nvSpPr>
        <p:spPr>
          <a:xfrm>
            <a:off x="3429000" y="39044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Tools Disagree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429000" y="419709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evaluation tools gave results differing by up to 6.4 pts, sometimes reversing the winner — published leaderboards may be less reliable than assumed.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172200" y="3822192"/>
            <a:ext cx="2743200" cy="1115568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72200" y="3822192"/>
            <a:ext cx="27432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0"/>
          <p:cNvSpPr/>
          <p:nvPr/>
        </p:nvSpPr>
        <p:spPr>
          <a:xfrm>
            <a:off x="6355080" y="39044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Helps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355080" y="419709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tuning genuinely helps small models (&lt;7B) and when few-shot examples are provided. Avoid for large models on zero-shot tasks.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MoLAE — Mixture of Latent Experts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126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2024–2025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86968"/>
            <a:ext cx="8503920" cy="6217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86968"/>
            <a:ext cx="64008" cy="62179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886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MoE models waste memory on redundant expert weights. MoLAE factorizes each expert into shared + tiny unique matrices — cutting ~40% of parameters while keeping the same intelligence.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Insight: Weight Factorization  (W = A × B)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4160520" cy="187452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01952"/>
            <a:ext cx="416052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93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331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expert has full weight matrix 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679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highly redundant across experts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0266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Memory-heavy, communication bottleneck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3741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Hardware-intensive at scale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901952"/>
            <a:ext cx="4160520" cy="187452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901952"/>
            <a:ext cx="416052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993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MoLAE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331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matrix B: one for each expert group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679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matrix A: tiny per-expert specialisation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0266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A × B  (latent space compression)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3741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fewer parameters, lower FLOPs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886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Qwen / Moonlight Base Models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160520"/>
            <a:ext cx="2011680" cy="82296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160520"/>
            <a:ext cx="201168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4233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20040" y="4572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14600" y="4160520"/>
            <a:ext cx="2011680" cy="82296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14600" y="4160520"/>
            <a:ext cx="201168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2" name="Text 30"/>
          <p:cNvSpPr/>
          <p:nvPr/>
        </p:nvSpPr>
        <p:spPr>
          <a:xfrm>
            <a:off x="2514600" y="4233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514600" y="4572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 vs standard MoE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4160520"/>
            <a:ext cx="2011680" cy="82296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4160520"/>
            <a:ext cx="201168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4233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709160" y="4572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intelligence / accuracy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03720" y="4160520"/>
            <a:ext cx="2011680" cy="82296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03720" y="4160520"/>
            <a:ext cx="201168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4233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HW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903720" y="4572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SLMs as Enterprise Search Relevance Labelers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126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2024–2025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86968"/>
            <a:ext cx="8503920" cy="6217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86968"/>
            <a:ext cx="64008" cy="6217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886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need frontier models for backend labeling. A well-trained small model is actually superior for production-scale enterprise tasks — cheaper, faster, and equally accurate.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Shows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4160520" cy="123444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01952"/>
            <a:ext cx="416052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933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Finding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33172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need "frontier" models for backend labeling. A well-trained small model is actually superior for production-scale tasks.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901952"/>
            <a:ext cx="4160520" cy="123444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901952"/>
            <a:ext cx="4160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9933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SLMs Excel Here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relevance labeling is a narrow, well-defined task — general intelligence of frontier models is overkill for this specific job.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" y="32735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Implications (from source)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547872"/>
            <a:ext cx="8503920" cy="1417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small model on the specific enterprise search relevance task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small model matches or beats frontier model labeling quality at a fraction of the cost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Production-scale deployment becomes viable with a well-trained SLM — no frontier API dependency needed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task specialisation matters more than raw model size for narrow backend tasks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SLMRec — Distilling LLMs into Small for Sequential Recommendation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126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2024–2025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86968"/>
            <a:ext cx="8503920" cy="6217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86968"/>
            <a:ext cx="64008" cy="6217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886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middle layers in an LLM are redundant for recommendation tasks. 75% of LLM layers can be removed — producing a model that is 8x faster, 13% the size, and equally accurate.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Results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1965960" cy="117043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01952"/>
            <a:ext cx="196596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97510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11480" y="26151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 speed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3160" y="1901952"/>
            <a:ext cx="1965960" cy="117043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23160" y="1901952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197510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514600" y="26151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original model size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26280" y="1901952"/>
            <a:ext cx="1965960" cy="117043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26280" y="1901952"/>
            <a:ext cx="196596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197510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617720" y="26151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LLM layers removed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200400"/>
            <a:ext cx="1965960" cy="117043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200400"/>
            <a:ext cx="1965960" cy="54864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27355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11480" y="39136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accuracy maintained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23160" y="3200400"/>
            <a:ext cx="1965960" cy="117043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23160" y="3200400"/>
            <a:ext cx="196596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2423160" y="327355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2514600" y="39136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are the redundant ones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26280" y="3200400"/>
            <a:ext cx="1965960" cy="117043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26280" y="3200400"/>
            <a:ext cx="196596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3" name="Text 31"/>
          <p:cNvSpPr/>
          <p:nvPr/>
        </p:nvSpPr>
        <p:spPr>
          <a:xfrm>
            <a:off x="4526280" y="327355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4617720" y="39136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knowledge distillation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2084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SLMRec Works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75120" y="1920240"/>
            <a:ext cx="347472" cy="34747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14032" y="193852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redundant layers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14032" y="22494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transformer layers add little for rec tasks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75120" y="2615184"/>
            <a:ext cx="347472" cy="34747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14032" y="263347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&amp; compress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114032" y="29443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75% of layers; keep critical early/late blocks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75120" y="3310128"/>
            <a:ext cx="347472" cy="34747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114032" y="332841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114032" y="363931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student learns from full-size teacher LLM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675120" y="4005072"/>
            <a:ext cx="347472" cy="34747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9" name="Text 47"/>
          <p:cNvSpPr/>
          <p:nvPr/>
        </p:nvSpPr>
        <p:spPr>
          <a:xfrm>
            <a:off x="667512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114032" y="40233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efficiently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114032" y="43342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 faster, fits on edge hardware — same 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SLMs for Personal Medical Assistant Chatbots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126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2024–2025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86968"/>
            <a:ext cx="8503920" cy="6217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86968"/>
            <a:ext cx="64008" cy="62179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886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powerful but pose serious privacy risks for medical use. Local SLMs with a "Privacy by Design" architecture keep sensitive health data completely on-device.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"Privacy by Design" Architecture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4206240" cy="658368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01952"/>
            <a:ext cx="420624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751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19751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enters health query or data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52374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70048"/>
            <a:ext cx="4206240" cy="658368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70048"/>
            <a:ext cx="420624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Parser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"insertion" data handled by local rule-based parser — NOT sent to AI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32918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438144"/>
            <a:ext cx="4206240" cy="658368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438144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511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SLM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11680" y="351129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model runs entirely on device — no cloud, no data transfer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40599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206240"/>
            <a:ext cx="4206240" cy="658368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206240"/>
            <a:ext cx="4206240" cy="54864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279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011680" y="4279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guidance returned locally — private &amp; fast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(from source)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1901952"/>
            <a:ext cx="3977640" cy="658368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1901952"/>
            <a:ext cx="397764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19933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by design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22494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health data never sent to cloud — handled by local parser, not AI model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2670048"/>
            <a:ext cx="3977640" cy="658368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670048"/>
            <a:ext cx="397764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27614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"Privacy by Design" architecture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30175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"insertion" data parsed locally; only non-sensitive parts processed by the SLM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3438144"/>
            <a:ext cx="3977640" cy="658368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438144"/>
            <a:ext cx="397764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5295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open-source SLMs used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0" y="378561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inference pipeline runs on-device — no external API calls needed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4206240"/>
            <a:ext cx="3977640" cy="658368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46320" y="4206240"/>
            <a:ext cx="397764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42976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LLM privacy risk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0" y="4553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core problem: LLMs are powerful but pose privacy risks when sending sensitive health data to the cloud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Reasoning Ability of Small Language Models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126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Srivastava et al. ·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86968"/>
            <a:ext cx="8503920" cy="6217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86968"/>
            <a:ext cx="64008" cy="6217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886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in SLMs is driven primarily by training data quality and methodology, not model size. Qwen2.5-32B rivals GPT-4-Turbo despite being open-source and much smaller.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Reasoning in SLMs?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4160520" cy="8503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01952"/>
            <a:ext cx="4160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933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methodology &gt; model size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28600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outperforms same-size competitors due to better pretraining data and reinforcement learning (RL)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871216"/>
            <a:ext cx="4160520" cy="8503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71216"/>
            <a:ext cx="4160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96265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Chain-of-Thought: diminishing returns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325526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models already internalize step-by-step reasoning during training — CoT prompting adds less than expected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840480"/>
            <a:ext cx="4160520" cy="8503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40480"/>
            <a:ext cx="4160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319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competes with proprietary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22452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Qwen2.5-32B rivals or surpasses GPT-4-Turbo on intermediate reasoning benchmarks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Compression: What Helps vs. Hurts Reasoning?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901952"/>
            <a:ext cx="4069080" cy="128016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901952"/>
            <a:ext cx="4069080" cy="54864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99339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 ✅  Safe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2340864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reasoning with minimal loss. Recommended for deployment.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410712"/>
            <a:ext cx="4069080" cy="128016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410712"/>
            <a:ext cx="406908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5021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 ❌  Dangerous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849624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Severely damages reasoning capabilities. Avoid for reasoning-critical tasks.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182634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Invest in training quality and data curation — not just bigger parameter counts.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on Small Language Models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126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et al. ·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86968"/>
            <a:ext cx="8503920" cy="6217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86968"/>
            <a:ext cx="64008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886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taxonomy of SLM optimization across architecture, training, and compression — with knowledge distillation emerging as the most powerful technique, sometimes outperforming the teacher model.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Dimensions of SLM Optimization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2743200" cy="196596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01952"/>
            <a:ext cx="27432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933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3591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design principles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8163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attention mechanisms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2735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architecture search (NAS)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901952"/>
            <a:ext cx="2743200" cy="196596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901952"/>
            <a:ext cx="27432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19933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Techniques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23591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Low-precision training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28163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fine-tuning (PEFT)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32735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strategies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1901952"/>
            <a:ext cx="2743200" cy="1965960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901952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9933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Compression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23591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(structured / unstructured)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55080" y="28163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(GPTQ, AWQ, SmoothQuant)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55080" y="32735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39776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Standout Findings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4251960"/>
            <a:ext cx="2011680" cy="80467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425196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325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most powerful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5994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models can outperform teachers when reasoning chains included in process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14600" y="4251960"/>
            <a:ext cx="2011680" cy="80467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14600" y="4251960"/>
            <a:ext cx="2011680" cy="54864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36" name="Text 34"/>
          <p:cNvSpPr/>
          <p:nvPr/>
        </p:nvSpPr>
        <p:spPr>
          <a:xfrm>
            <a:off x="2697480" y="4325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safe for production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97480" y="45994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GPTQ/AWQ/SmoothQuant cut memory &amp; latency with minimal accuracy loss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4251960"/>
            <a:ext cx="2011680" cy="80467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4251960"/>
            <a:ext cx="201168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4325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= risk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45994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pruning is hardware-friendly but risks performance degradation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03720" y="4251960"/>
            <a:ext cx="2011680" cy="80467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903720" y="4251960"/>
            <a:ext cx="20116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4" name="Text 42"/>
          <p:cNvSpPr/>
          <p:nvPr/>
        </p:nvSpPr>
        <p:spPr>
          <a:xfrm>
            <a:off x="7086600" y="4325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is viable now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86600" y="45994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without cloud dependency increasingly practical for SLMs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55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SCoTD — Symbolic Chain-of-Thought Distillation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6126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· 2024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86968"/>
            <a:ext cx="8503920" cy="6217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86968"/>
            <a:ext cx="64008" cy="6217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886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models of 125M–1.3B parameters can learn step-by-step reasoning — chain-of-thought does NOT require 50B+ parameter models. The key is distilling diverse reasoning chains from a larger teacher (GPT-3).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4754880" cy="8503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01952"/>
            <a:ext cx="64008" cy="8503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975104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barrier broken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2249424"/>
            <a:ext cx="4507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reasoning proven achievable at 125M–1.3B — 100x smaller than previously assumed (50B+)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871216"/>
            <a:ext cx="4754880" cy="8503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71216"/>
            <a:ext cx="64008" cy="8503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944368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beats quality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218688"/>
            <a:ext cx="4507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success factor: sample ~30 diverse reasoning chains per training example. Even noisy, random chains outperform a single high-quality one.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840480"/>
            <a:ext cx="4754880" cy="85039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40480"/>
            <a:ext cx="64008" cy="850392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913632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Human-judged quality parity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4187952"/>
            <a:ext cx="4507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evaluators rated the small student model's chain-of-thoughts as comparable in quality to GPT-3's — despite being 100x smaller.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0" y="1600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03520" y="1901952"/>
            <a:ext cx="1965960" cy="117043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0" y="1901952"/>
            <a:ext cx="196596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197510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5394960" y="26151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chains per example (optimal)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06640" y="1901952"/>
            <a:ext cx="1965960" cy="1170432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06640" y="1901952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0" y="197510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498080" y="26151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than GPT-3, equal CoT quality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3200400"/>
            <a:ext cx="4069080" cy="1572768"/>
          </a:xfrm>
          <a:prstGeom prst="rect">
            <a:avLst/>
          </a:prstGeom>
          <a:solidFill>
            <a:srgbClr val="182634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03520" y="3200400"/>
            <a:ext cx="4069080" cy="64008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0" y="3291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Gains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3611880"/>
          <a:ext cx="4069080" cy="11277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 contrast 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Out-of-domain (unseen tasks)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Significantly better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1972</Words>
  <Application>Microsoft Office PowerPoint</Application>
  <PresentationFormat>On-screen Show (16:9)</PresentationFormat>
  <Paragraphs>344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 Language Models — Complete Research Overview (11 Papers)</dc:title>
  <dc:subject>PptxGenJS Presentation</dc:subject>
  <dc:creator>PptxGenJS</dc:creator>
  <cp:lastModifiedBy>Admin</cp:lastModifiedBy>
  <cp:revision>2</cp:revision>
  <dcterms:created xsi:type="dcterms:W3CDTF">2026-03-01T20:08:32Z</dcterms:created>
  <dcterms:modified xsi:type="dcterms:W3CDTF">2026-03-02T00:23:40Z</dcterms:modified>
</cp:coreProperties>
</file>